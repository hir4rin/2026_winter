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3" r:id="rId6"/>
    <p:sldId id="269" r:id="rId7"/>
    <p:sldId id="267" r:id="rId8"/>
    <p:sldId id="268" r:id="rId9"/>
    <p:sldId id="270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  <Relationship Id="rId14" Type="http://schemas.openxmlformats.org/officeDocument/2006/relationships/slide" Target="slides/slide9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B300E7-4191-FA22-E95B-2E56C59FC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C2FAE8D-1483-F7E1-FB81-9E1807C7E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593615-9AAF-F8F3-7762-8EEDA81BB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C0B689-DBAC-CE48-CEF4-A4A160EF5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A1D096-4646-5D40-025A-27557420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9708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3691A7-5352-5979-69D5-784135A83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E3CA87-F7DC-421A-7E28-F8FD995CD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7F140F-C88D-501E-24E1-56C93E3CC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B0BF8D-08C8-BF2C-139F-C13F02C25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14C954-0834-6843-0513-FA859332A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5866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EE983D-1ECD-72CA-8A12-8BAEAD49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A6AB73-573C-7AAC-4975-5948AD09F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BAA4B1-4917-C109-31A8-B360351FA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396B00-52E4-C48C-3E9F-A9ABE4081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3149C1-24C3-E016-ECAB-C03EEBADD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3524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E5D0F5-5505-24FF-3B7E-CAC35237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B340B1-4B38-B296-1BDA-ACF403F55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9BB840-70B1-B624-C2E2-C7E3B7A78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23E4920-2461-6EAA-A98D-69A5C8E8C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4066A9-F2E5-5F58-3A22-4B928A3D1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CDACAB4-BA1B-9E3A-1B0E-EB9D62C8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242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3AD96C-8C5C-4B01-5B19-FE4C23A5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78CE68A-8676-04A5-5B59-33FA3E5EC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B58CD9E-433C-8722-7806-0FA2B326D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9C10D13-9707-9FFB-E87E-9085AFB63E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A49D79E-D2F9-4F1B-8EC7-B03C9A2B1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D279081-D136-AE6E-7C32-82A5B66EE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2D9326-7832-8599-C808-DD340E27E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64CF031-9F39-699E-40A6-F2320029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9516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2A714C-9C5C-4444-5621-42A5A5FC5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ABD382F-AE75-1C24-0D86-89D064ECE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390C3CE-48A0-CA50-1A94-C175D2B90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F09D24-E518-3D9E-A95A-784EECA32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45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233FD17-594A-3C04-AA9A-EC0437833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53D20B8-E3BE-5094-F440-3923CC9D2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3BD74B-642A-1D45-F1C3-E716A6448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3592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F782-2721-03AE-DC10-C74A93EFE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96C345-A3DE-2178-F011-B8E807DC6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56E5A34-B344-8C53-05E3-3C1467884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E1C0AE-3DF5-2E33-A422-61F78966C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B1130E4-A338-FC1C-2B51-BD518EC7B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AB0D4D-3714-C147-0870-34A2E926D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299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832999-F909-6E22-2FA9-432BA1D4F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25EF98F-A2F4-F969-4732-8E81DBE2CF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59248A-AC12-0B1B-D0D4-5397E8C80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0361BC-B78E-A865-0EB8-372042A6C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E95A9F-90E6-7BB5-FAD8-1076ED401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B5B474-E7A4-75A2-4A04-1E2432516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2423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4D3622-29D4-802D-C1F5-D6285C0D9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995C57-AD06-37FE-9BDF-4A40B0244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39734D-3152-7C9C-438D-F8E9CD2B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0B1564-DBC8-EE33-B828-6444D192C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27B630-E3C7-E2F9-7858-96741AE5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9604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1EBD65B-4886-2C09-56D1-6F6082DE04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8BA1BAA-D3AF-065E-40CA-0A6C33798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B4124B-139B-DEB5-E083-D28E31B9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47623E-C26A-4C11-DC80-63B9E434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AFE49C-27A5-316F-B9B8-C6618471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9321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B7E1426-BD77-1DB6-2826-E6ED4BAC7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F5BDC0-D5B6-73E1-1F45-111C32311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EAFEA9-B34A-453A-086F-135A64B92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492218-579B-9981-6472-7E7D56C74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B6183C-C140-DDAC-1867-26704E2171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733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3" Type="http://schemas.openxmlformats.org/officeDocument/2006/relationships/hyperlink" Target="https://www.youtube.com/watch?v=vAVnXAJUvyc" TargetMode="External"/><Relationship Id="rId4" Type="http://schemas.openxmlformats.org/officeDocument/2006/relationships/hyperlink" Target="https://www.youtube.com/watch?v=8SAzSkPCG50" TargetMode="External"/><Relationship Id="rId5" Type="http://schemas.openxmlformats.org/officeDocument/2006/relationships/hyperlink" Target="https://www.youtube.com/watch?v=HYjKEGySeqs" TargetMode="External"/><Relationship Id="rId6" Type="http://schemas.openxmlformats.org/officeDocument/2006/relationships/hyperlink" Target="https://www.platinumgames.com/official-blog/wp-content/uploads/sites/2/2025/12/NINJA-GAIDEN-4_Blog_03-07.mp4" TargetMode="External"/><Relationship Id="rId7" Type="http://schemas.openxmlformats.org/officeDocument/2006/relationships/hyperlink" Target="https://www.platinumgames.co.jp/dev-ninjagaiden4/article/214" TargetMode="External"/><Relationship Id="rId8" Type="http://schemas.openxmlformats.org/officeDocument/2006/relationships/hyperlink" Target="https://www.platinumgames.com/official-blog/wp-content/uploads/sites/2/2025/12/NINJA-GAIDEN-4_Blog_03-05.mp4" TargetMode="External"/><Relationship Id="rId9" Type="http://schemas.openxmlformats.org/officeDocument/2006/relationships/hyperlink" Target="https://www.youtube.com/watch?v=2wBe6K0z3fg" TargetMode="External"/><Relationship Id="rId10" Type="http://schemas.openxmlformats.org/officeDocument/2006/relationships/hyperlink" Target="https://www.platinumgames.com/official-blog/wp-content/uploads/sites/2/2025/12/NINJA-GAIDEN-4_Blog_03-06.mp4" TargetMode="External"/><Relationship Id="rId11" Type="http://schemas.openxmlformats.org/officeDocument/2006/relationships/hyperlink" Target="https://www.youtube.com/watch?v=shwqq5qzrcU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 descr="دانلود بازی Ninja Gaiden 4 برای کامپیوتر">
            <a:extLst>
              <a:ext uri="{FF2B5EF4-FFF2-40B4-BE49-F238E27FC236}">
                <a16:creationId xmlns:a16="http://schemas.microsoft.com/office/drawing/2014/main" id="{F20BE5C3-BF76-2003-9B19-EC22BCC24A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r="8333"/>
          <a:stretch>
            <a:fillRect/>
          </a:stretch>
        </p:blipFill>
        <p:spPr>
          <a:xfrm>
            <a:off x="0" y="0"/>
            <a:ext cx="12192000" cy="7325591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61385CB-7858-B355-648E-EFA95A2EC762}"/>
              </a:ext>
            </a:extLst>
          </p:cNvPr>
          <p:cNvSpPr txBox="1"/>
          <p:nvPr/>
        </p:nvSpPr>
        <p:spPr>
          <a:xfrm>
            <a:off x="11430000" y="6413500"/>
            <a:ext cx="50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96969B"/>
                </a:solidFill>
                <a:latin typeface="Meiryo" panose="020B0604030504040204" pitchFamily="50" charset="-128"/>
              </a:rPr>
              <a:t>1</a:t>
            </a:r>
            <a:endParaRPr kumimoji="1" lang="ja-JP" altLang="en-US" sz="1000">
              <a:solidFill>
                <a:srgbClr val="96969B"/>
              </a:solidFill>
              <a:latin typeface="Meiryo" panose="020B0604030504040204" pitchFamily="50" charset="-128"/>
            </a:endParaRPr>
          </a:p>
        </p:txBody>
      </p:sp>
      <p:pic>
        <p:nvPicPr>
          <p:cNvPr id="12" name="図 11" descr="NINJA GAIDEN 4』レビュー・感想・評価：新主人公「ヤクモ」が想像以上に快適だった！">
            <a:extLst>
              <a:ext uri="{FF2B5EF4-FFF2-40B4-BE49-F238E27FC236}">
                <a16:creationId xmlns:a16="http://schemas.microsoft.com/office/drawing/2014/main" id="{5F43BD4D-A904-13A7-05B2-1BA9C139F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0930" y="2847455"/>
            <a:ext cx="6350139" cy="3566045"/>
          </a:xfrm>
          <a:prstGeom prst="rect">
            <a:avLst/>
          </a:prstGeom>
          <a:ln w="38100" cap="sq">
            <a:solidFill>
              <a:schemeClr val="bg2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4A69085-3262-DDD6-0453-6EE9EF027D27}"/>
              </a:ext>
            </a:extLst>
          </p:cNvPr>
          <p:cNvSpPr txBox="1"/>
          <p:nvPr/>
        </p:nvSpPr>
        <p:spPr>
          <a:xfrm>
            <a:off x="5490021" y="444500"/>
            <a:ext cx="14926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600" b="1" dirty="0">
                <a:solidFill>
                  <a:schemeClr val="bg1"/>
                </a:solidFill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忍</a:t>
            </a:r>
            <a:endParaRPr kumimoji="1" lang="ja-JP" altLang="en-US" sz="4000" b="1" dirty="0">
              <a:solidFill>
                <a:schemeClr val="bg1"/>
              </a:solidFill>
              <a:latin typeface="HGP創英ﾌﾟﾚｾﾞﾝｽEB" panose="02020800000000000000" pitchFamily="18" charset="-128"/>
              <a:ea typeface="HGP創英ﾌﾟﾚｾﾞﾝｽEB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4584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 descr="دانلود بازی Ninja Gaiden 4 برای کامپیوتر">
            <a:extLst>
              <a:ext uri="{FF2B5EF4-FFF2-40B4-BE49-F238E27FC236}">
                <a16:creationId xmlns:a16="http://schemas.microsoft.com/office/drawing/2014/main" id="{37DE8A4D-906C-2D67-46B1-C893063CCBA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8333"/>
          <a:stretch>
            <a:fillRect/>
          </a:stretch>
        </p:blipFill>
        <p:spPr>
          <a:xfrm>
            <a:off x="0" y="0"/>
            <a:ext cx="12192000" cy="7325591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8DDBB21-CED2-58A4-DDFD-B6B5A98AF94C}"/>
              </a:ext>
            </a:extLst>
          </p:cNvPr>
          <p:cNvSpPr txBox="1"/>
          <p:nvPr/>
        </p:nvSpPr>
        <p:spPr>
          <a:xfrm>
            <a:off x="508000" y="508000"/>
            <a:ext cx="1092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3200" b="1" i="1" u="sng" dirty="0">
                <a:solidFill>
                  <a:srgbClr val="FFFFFF"/>
                </a:solidFill>
                <a:latin typeface="Meiryo" panose="020B0604030504040204" pitchFamily="50" charset="-128"/>
              </a:rPr>
              <a:t>コンセプト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7D483AC-C492-8C1B-8F66-E732DC0D6536}"/>
              </a:ext>
            </a:extLst>
          </p:cNvPr>
          <p:cNvSpPr txBox="1"/>
          <p:nvPr/>
        </p:nvSpPr>
        <p:spPr>
          <a:xfrm>
            <a:off x="2738581" y="1160198"/>
            <a:ext cx="6857906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ja-JP" altLang="en-US" sz="4400" b="1" i="1" dirty="0">
                <a:solidFill>
                  <a:srgbClr val="FFCB00"/>
                </a:solidFill>
                <a:latin typeface="Meiryo" panose="020B0604030504040204" pitchFamily="50" charset="-128"/>
              </a:rPr>
              <a:t>忍者っぽさの完全追求</a:t>
            </a:r>
            <a:endParaRPr kumimoji="1" lang="ja-JP" altLang="en-US" sz="4400" b="1" i="1" dirty="0">
              <a:solidFill>
                <a:srgbClr val="FFCB00"/>
              </a:solidFill>
              <a:latin typeface="Meiryo" panose="020B0604030504040204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18771EFC-22DB-E106-DDDC-CC0AF5736800}"/>
              </a:ext>
            </a:extLst>
          </p:cNvPr>
          <p:cNvSpPr/>
          <p:nvPr/>
        </p:nvSpPr>
        <p:spPr>
          <a:xfrm>
            <a:off x="508000" y="2794000"/>
            <a:ext cx="584200" cy="584200"/>
          </a:xfrm>
          <a:prstGeom prst="ellipse">
            <a:avLst/>
          </a:prstGeom>
          <a:solidFill>
            <a:srgbClr val="D81B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FFFFFF"/>
                </a:solidFill>
                <a:latin typeface="Meiryo" panose="020B0604030504040204" pitchFamily="50" charset="-128"/>
              </a:rPr>
              <a:t>1</a:t>
            </a:r>
            <a:endParaRPr kumimoji="1" lang="ja-JP" altLang="en-US" sz="2000" b="1" dirty="0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B5E8E2D-AA76-99C8-54BA-2F8DF61D5CE2}"/>
              </a:ext>
            </a:extLst>
          </p:cNvPr>
          <p:cNvSpPr txBox="1"/>
          <p:nvPr/>
        </p:nvSpPr>
        <p:spPr>
          <a:xfrm>
            <a:off x="1270000" y="2828067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1600" b="1" dirty="0">
                <a:solidFill>
                  <a:srgbClr val="FFFFFF"/>
                </a:solidFill>
                <a:latin typeface="Meiryo" panose="020B0604030504040204" pitchFamily="50" charset="-128"/>
              </a:rPr>
              <a:t>疾走感のある移動アクション</a:t>
            </a:r>
          </a:p>
          <a:p>
            <a:r>
              <a:rPr kumimoji="1" lang="ja-JP" altLang="en-US" sz="1600" dirty="0">
                <a:solidFill>
                  <a:srgbClr val="CDCDD2"/>
                </a:solidFill>
                <a:latin typeface="Meiryo" panose="020B0604030504040204" pitchFamily="50" charset="-128"/>
              </a:rPr>
              <a:t>壁走り・壁けり・フックを使い、ステージを立体的に駆け抜ける忍者らしいスピード感を追求する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F981861-6A54-DC48-010F-7F696D49F325}"/>
              </a:ext>
            </a:extLst>
          </p:cNvPr>
          <p:cNvSpPr/>
          <p:nvPr/>
        </p:nvSpPr>
        <p:spPr>
          <a:xfrm>
            <a:off x="508000" y="4064000"/>
            <a:ext cx="584200" cy="584200"/>
          </a:xfrm>
          <a:prstGeom prst="ellipse">
            <a:avLst/>
          </a:prstGeom>
          <a:solidFill>
            <a:srgbClr val="D81B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>
                <a:solidFill>
                  <a:srgbClr val="FFFFFF"/>
                </a:solidFill>
                <a:latin typeface="Meiryo" panose="020B0604030504040204" pitchFamily="50" charset="-128"/>
              </a:rPr>
              <a:t>2</a:t>
            </a:r>
            <a:endParaRPr kumimoji="1" lang="ja-JP" altLang="en-US" sz="20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B9A8C7A-D238-09A5-4065-A7E47BA4D951}"/>
              </a:ext>
            </a:extLst>
          </p:cNvPr>
          <p:cNvSpPr txBox="1"/>
          <p:nvPr/>
        </p:nvSpPr>
        <p:spPr>
          <a:xfrm>
            <a:off x="1320800" y="4064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1600" b="1" dirty="0">
                <a:solidFill>
                  <a:srgbClr val="FFFFFF"/>
                </a:solidFill>
                <a:latin typeface="Meiryo" panose="020B0604030504040204" pitchFamily="50" charset="-128"/>
              </a:rPr>
              <a:t>圧倒的な演出の処刑（忍殺）システム</a:t>
            </a:r>
          </a:p>
          <a:p>
            <a:r>
              <a:rPr kumimoji="1" lang="ja-JP" altLang="en-US" sz="1600" dirty="0">
                <a:solidFill>
                  <a:srgbClr val="CDCDD2"/>
                </a:solidFill>
                <a:latin typeface="Meiryo" panose="020B0604030504040204" pitchFamily="50" charset="-128"/>
              </a:rPr>
              <a:t>部位破壊からの絶技・暗殺など、決めた瞬間の爽快感とカメラワークにこだわった処刑演出を作り込む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A43C6B9E-3D8E-A2E1-EC23-DC98C23E9962}"/>
              </a:ext>
            </a:extLst>
          </p:cNvPr>
          <p:cNvSpPr/>
          <p:nvPr/>
        </p:nvSpPr>
        <p:spPr>
          <a:xfrm>
            <a:off x="508000" y="5334000"/>
            <a:ext cx="584200" cy="584200"/>
          </a:xfrm>
          <a:prstGeom prst="ellipse">
            <a:avLst/>
          </a:prstGeom>
          <a:solidFill>
            <a:srgbClr val="D81B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>
                <a:solidFill>
                  <a:srgbClr val="FFFFFF"/>
                </a:solidFill>
                <a:latin typeface="Meiryo" panose="020B0604030504040204" pitchFamily="50" charset="-128"/>
              </a:rPr>
              <a:t>3</a:t>
            </a:r>
            <a:endParaRPr kumimoji="1" lang="ja-JP" altLang="en-US" sz="20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8CEBED4-4F93-BCAC-BE54-103611AF1F6D}"/>
              </a:ext>
            </a:extLst>
          </p:cNvPr>
          <p:cNvSpPr txBox="1"/>
          <p:nvPr/>
        </p:nvSpPr>
        <p:spPr>
          <a:xfrm>
            <a:off x="1320800" y="5357091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1600" b="1" dirty="0">
                <a:solidFill>
                  <a:srgbClr val="FFFFFF"/>
                </a:solidFill>
                <a:latin typeface="Meiryo" panose="020B0604030504040204" pitchFamily="50" charset="-128"/>
              </a:rPr>
              <a:t>魅せるカメラワークへのこだわり</a:t>
            </a:r>
            <a:br>
              <a:rPr kumimoji="1" lang="en-US" altLang="ja-JP" sz="1600" b="1" dirty="0">
                <a:solidFill>
                  <a:srgbClr val="FFFFFF"/>
                </a:solidFill>
                <a:latin typeface="Meiryo" panose="020B0604030504040204" pitchFamily="50" charset="-128"/>
              </a:rPr>
            </a:br>
            <a:r>
              <a:rPr kumimoji="1" lang="ja-JP" altLang="en-US" sz="1600" dirty="0">
                <a:solidFill>
                  <a:srgbClr val="FFFFFF">
                    <a:alpha val="58000"/>
                  </a:srgbClr>
                </a:solidFill>
                <a:latin typeface="Meiryo" panose="020B0604030504040204" pitchFamily="50" charset="-128"/>
              </a:rPr>
              <a:t>様々な場所でカメラ演出を入れる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80FBDE2-DD95-C177-8DAB-9414641AD7A5}"/>
              </a:ext>
            </a:extLst>
          </p:cNvPr>
          <p:cNvSpPr txBox="1"/>
          <p:nvPr/>
        </p:nvSpPr>
        <p:spPr>
          <a:xfrm>
            <a:off x="11430000" y="6413500"/>
            <a:ext cx="50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96969B"/>
                </a:solidFill>
                <a:latin typeface="Meiryo" panose="020B0604030504040204" pitchFamily="50" charset="-128"/>
              </a:rPr>
              <a:t>2</a:t>
            </a:r>
            <a:endParaRPr kumimoji="1" lang="ja-JP" altLang="en-US" sz="1000">
              <a:solidFill>
                <a:srgbClr val="96969B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8422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73378A3-B7A1-6921-84B6-F0657B1ADAD0}"/>
              </a:ext>
            </a:extLst>
          </p:cNvPr>
          <p:cNvSpPr txBox="1"/>
          <p:nvPr/>
        </p:nvSpPr>
        <p:spPr>
          <a:xfrm>
            <a:off x="508000" y="5080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2800" b="1" i="1" u="sng">
                <a:solidFill>
                  <a:srgbClr val="FFFFFF"/>
                </a:solidFill>
                <a:latin typeface="Meiryo" panose="020B0604030504040204" pitchFamily="50" charset="-128"/>
              </a:rPr>
              <a:t>移動・トラバーサル系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38BCC47-3B86-81CB-9EE4-36C9572AB2EB}"/>
              </a:ext>
            </a:extLst>
          </p:cNvPr>
          <p:cNvSpPr txBox="1"/>
          <p:nvPr/>
        </p:nvSpPr>
        <p:spPr>
          <a:xfrm>
            <a:off x="1991849" y="1181269"/>
            <a:ext cx="11176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1600" b="1" dirty="0">
                <a:solidFill>
                  <a:srgbClr val="FFFF00"/>
                </a:solidFill>
                <a:latin typeface="Meiryo" panose="020B0604030504040204" pitchFamily="50" charset="-128"/>
              </a:rPr>
              <a:t>壁を使った立体的な移動で、ステージを縦横無尽に駆け巡る忍者感を演出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1A7AA75-08E3-FC98-E507-3E7B04DF98DD}"/>
              </a:ext>
            </a:extLst>
          </p:cNvPr>
          <p:cNvSpPr/>
          <p:nvPr/>
        </p:nvSpPr>
        <p:spPr>
          <a:xfrm>
            <a:off x="508000" y="1651000"/>
            <a:ext cx="3589867" cy="21209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500" b="1">
                <a:solidFill>
                  <a:srgbClr val="FFFFFF"/>
                </a:solidFill>
                <a:latin typeface="Meiryo" panose="020B0604030504040204" pitchFamily="50" charset="-128"/>
              </a:rPr>
              <a:t>壁走り</a:t>
            </a:r>
          </a:p>
          <a:p>
            <a:pPr algn="ctr"/>
            <a:r>
              <a:rPr kumimoji="1" lang="ja-JP" altLang="en-US" sz="1100">
                <a:solidFill>
                  <a:srgbClr val="CDCDD2"/>
                </a:solidFill>
                <a:latin typeface="Meiryo" panose="020B0604030504040204" pitchFamily="50" charset="-128"/>
              </a:rPr>
              <a:t>壁を駆け上がる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9867BF5A-94BF-CFE6-FB85-68A4088AF853}"/>
              </a:ext>
            </a:extLst>
          </p:cNvPr>
          <p:cNvSpPr/>
          <p:nvPr/>
        </p:nvSpPr>
        <p:spPr>
          <a:xfrm>
            <a:off x="3716867" y="1727200"/>
            <a:ext cx="304800" cy="304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○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98CD476-A2B2-F5AF-950A-2909164EE079}"/>
              </a:ext>
            </a:extLst>
          </p:cNvPr>
          <p:cNvSpPr/>
          <p:nvPr/>
        </p:nvSpPr>
        <p:spPr>
          <a:xfrm>
            <a:off x="4301067" y="1651000"/>
            <a:ext cx="3589866" cy="21209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500" b="1">
                <a:solidFill>
                  <a:srgbClr val="FFFFFF"/>
                </a:solidFill>
                <a:latin typeface="Meiryo" panose="020B0604030504040204" pitchFamily="50" charset="-128"/>
              </a:rPr>
              <a:t>壁けり</a:t>
            </a:r>
          </a:p>
          <a:p>
            <a:pPr algn="ctr"/>
            <a:r>
              <a:rPr kumimoji="1" lang="ja-JP" altLang="en-US" sz="1100">
                <a:solidFill>
                  <a:srgbClr val="CDCDD2"/>
                </a:solidFill>
                <a:latin typeface="Meiryo" panose="020B0604030504040204" pitchFamily="50" charset="-128"/>
              </a:rPr>
              <a:t>壁を蹴って飛躍する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D409543-B108-6729-3F6E-AAF40F70442C}"/>
              </a:ext>
            </a:extLst>
          </p:cNvPr>
          <p:cNvSpPr/>
          <p:nvPr/>
        </p:nvSpPr>
        <p:spPr>
          <a:xfrm>
            <a:off x="7509933" y="1727200"/>
            <a:ext cx="304800" cy="304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○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F168CB94-1A8B-13D9-71AF-9CF9CBDE4ECF}"/>
              </a:ext>
            </a:extLst>
          </p:cNvPr>
          <p:cNvSpPr/>
          <p:nvPr/>
        </p:nvSpPr>
        <p:spPr>
          <a:xfrm>
            <a:off x="8094133" y="1651000"/>
            <a:ext cx="3589867" cy="21209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500" b="1" dirty="0">
                <a:solidFill>
                  <a:srgbClr val="FFFFFF"/>
                </a:solidFill>
                <a:latin typeface="Meiryo" panose="020B0604030504040204" pitchFamily="50" charset="-128"/>
              </a:rPr>
              <a:t>フック（風路）</a:t>
            </a:r>
          </a:p>
          <a:p>
            <a:pPr algn="ctr"/>
            <a:r>
              <a:rPr kumimoji="1" lang="ja-JP" altLang="en-US" sz="1100" dirty="0">
                <a:solidFill>
                  <a:srgbClr val="CDCDD2"/>
                </a:solidFill>
                <a:latin typeface="Meiryo" panose="020B0604030504040204" pitchFamily="50" charset="-128"/>
              </a:rPr>
              <a:t>鍵縄をひっかけて瞬時に距離を詰める／囲まれた状況からの離脱にも使う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DF3ABD45-F56D-00DD-D871-622AEEDA8934}"/>
              </a:ext>
            </a:extLst>
          </p:cNvPr>
          <p:cNvSpPr/>
          <p:nvPr/>
        </p:nvSpPr>
        <p:spPr>
          <a:xfrm>
            <a:off x="11303000" y="1727200"/>
            <a:ext cx="304800" cy="304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○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9D00111-2292-2D0A-6E17-E7FB37FDBF2F}"/>
              </a:ext>
            </a:extLst>
          </p:cNvPr>
          <p:cNvSpPr/>
          <p:nvPr/>
        </p:nvSpPr>
        <p:spPr>
          <a:xfrm>
            <a:off x="508000" y="3975100"/>
            <a:ext cx="3589867" cy="2120900"/>
          </a:xfrm>
          <a:prstGeom prst="roundRect">
            <a:avLst>
              <a:gd name="adj" fmla="val 7000"/>
            </a:avLst>
          </a:prstGeom>
          <a:solidFill>
            <a:srgbClr val="28210C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500" b="1" dirty="0">
                <a:solidFill>
                  <a:srgbClr val="FFFFFF"/>
                </a:solidFill>
                <a:latin typeface="Meiryo" panose="020B0604030504040204" pitchFamily="50" charset="-128"/>
              </a:rPr>
              <a:t>滑空</a:t>
            </a:r>
          </a:p>
          <a:p>
            <a:pPr algn="ctr"/>
            <a:r>
              <a:rPr kumimoji="1" lang="ja-JP" altLang="en-US" sz="1100" dirty="0">
                <a:solidFill>
                  <a:srgbClr val="CDCDD2"/>
                </a:solidFill>
                <a:latin typeface="Meiryo" panose="020B0604030504040204" pitchFamily="50" charset="-128"/>
              </a:rPr>
              <a:t>空中を滑空する。飛ぶモーションがあるか要検討だが忍者っぽさは出せる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715A3E33-3105-FEF7-8E4A-278ECAAA6872}"/>
              </a:ext>
            </a:extLst>
          </p:cNvPr>
          <p:cNvSpPr/>
          <p:nvPr/>
        </p:nvSpPr>
        <p:spPr>
          <a:xfrm>
            <a:off x="3716867" y="4051300"/>
            <a:ext cx="304800" cy="304800"/>
          </a:xfrm>
          <a:prstGeom prst="ellipse">
            <a:avLst/>
          </a:prstGeom>
          <a:solidFill>
            <a:srgbClr val="FFB3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△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6C8873A3-7218-0441-189A-498544BDDF43}"/>
              </a:ext>
            </a:extLst>
          </p:cNvPr>
          <p:cNvSpPr/>
          <p:nvPr/>
        </p:nvSpPr>
        <p:spPr>
          <a:xfrm>
            <a:off x="4301067" y="3975100"/>
            <a:ext cx="3589866" cy="2120900"/>
          </a:xfrm>
          <a:prstGeom prst="roundRect">
            <a:avLst>
              <a:gd name="adj" fmla="val 7000"/>
            </a:avLst>
          </a:prstGeom>
          <a:solidFill>
            <a:srgbClr val="2A1A10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500" b="1">
                <a:solidFill>
                  <a:srgbClr val="FFFFFF"/>
                </a:solidFill>
                <a:latin typeface="Meiryo" panose="020B0604030504040204" pitchFamily="50" charset="-128"/>
              </a:rPr>
              <a:t>壁つかまり</a:t>
            </a:r>
          </a:p>
          <a:p>
            <a:pPr algn="ctr"/>
            <a:r>
              <a:rPr kumimoji="1" lang="ja-JP" altLang="en-US" sz="1100">
                <a:solidFill>
                  <a:srgbClr val="CDCDD2"/>
                </a:solidFill>
                <a:latin typeface="Meiryo" panose="020B0604030504040204" pitchFamily="50" charset="-128"/>
              </a:rPr>
              <a:t>詳細は未検討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5C43A341-A1A4-531F-063C-405DF878B659}"/>
              </a:ext>
            </a:extLst>
          </p:cNvPr>
          <p:cNvSpPr/>
          <p:nvPr/>
        </p:nvSpPr>
        <p:spPr>
          <a:xfrm>
            <a:off x="7509933" y="4051300"/>
            <a:ext cx="304800" cy="304800"/>
          </a:xfrm>
          <a:prstGeom prst="ellipse">
            <a:avLst/>
          </a:prstGeom>
          <a:solidFill>
            <a:srgbClr val="FF70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  <a:latin typeface="Meiryo" panose="020B0604030504040204" pitchFamily="50" charset="-128"/>
              </a:rPr>
              <a:t>▲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AF2CA12-9BC9-1BFC-63A8-15933332C759}"/>
              </a:ext>
            </a:extLst>
          </p:cNvPr>
          <p:cNvSpPr txBox="1"/>
          <p:nvPr/>
        </p:nvSpPr>
        <p:spPr>
          <a:xfrm>
            <a:off x="11430000" y="6413500"/>
            <a:ext cx="50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96969B"/>
                </a:solidFill>
                <a:latin typeface="Meiryo" panose="020B0604030504040204" pitchFamily="50" charset="-128"/>
              </a:rPr>
              <a:t>5</a:t>
            </a:r>
            <a:endParaRPr kumimoji="1" lang="ja-JP" altLang="en-US" sz="1000">
              <a:solidFill>
                <a:srgbClr val="96969B"/>
              </a:solidFill>
              <a:latin typeface="Meiryo" panose="020B0604030504040204" pitchFamily="50" charset="-128"/>
            </a:endParaRPr>
          </a:p>
        </p:txBody>
      </p:sp>
      <p:sp>
        <p:nvSpPr>
          <p:cNvPr id="15" name="参考リンク注記"/>
          <p:cNvSpPr txBox="1"/>
          <p:nvPr/>
        </p:nvSpPr>
        <p:spPr>
          <a:xfrm>
            <a:off x="508000" y="6413500"/>
            <a:ext cx="850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1000" i="1" dirty="0">
                <a:solidFill>
                  <a:srgbClr val="96969B"/>
                </a:solidFill>
                <a:latin typeface="Meiryo" panose="020B0604030504040204" pitchFamily="50" charset="-128"/>
              </a:rPr>
              <a:t>→ 壁走り・壁けり・フックの参考動画は P.9「参考:アクション参考リンク集」へ</a:t>
            </a:r>
          </a:p>
        </p:txBody>
      </p:sp>
    </p:spTree>
    <p:extLst>
      <p:ext uri="{BB962C8B-B14F-4D97-AF65-F5344CB8AC3E}">
        <p14:creationId xmlns:p14="http://schemas.microsoft.com/office/powerpoint/2010/main" val="4073604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C820BC6-6A44-8A6D-86B7-547B293809AA}"/>
              </a:ext>
            </a:extLst>
          </p:cNvPr>
          <p:cNvSpPr txBox="1"/>
          <p:nvPr/>
        </p:nvSpPr>
        <p:spPr>
          <a:xfrm>
            <a:off x="508000" y="5080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2800" b="1" i="1" u="sng" dirty="0">
                <a:solidFill>
                  <a:srgbClr val="FFFFFF"/>
                </a:solidFill>
                <a:latin typeface="Meiryo" panose="020B0604030504040204" pitchFamily="50" charset="-128"/>
              </a:rPr>
              <a:t>攻撃・コンボ・バトル系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1F6AAC7-CDA5-48A1-F362-26EB246440BC}"/>
              </a:ext>
            </a:extLst>
          </p:cNvPr>
          <p:cNvSpPr txBox="1"/>
          <p:nvPr/>
        </p:nvSpPr>
        <p:spPr>
          <a:xfrm>
            <a:off x="508000" y="10668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1300">
                <a:solidFill>
                  <a:srgbClr val="CDCDD2"/>
                </a:solidFill>
                <a:latin typeface="Meiryo" panose="020B0604030504040204" pitchFamily="50" charset="-128"/>
              </a:rPr>
              <a:t>弱攻撃・強攻撃の派生と武器切り替えでコンボの手数を広げる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A579B65-1559-082A-0611-A0CD82EAC20F}"/>
              </a:ext>
            </a:extLst>
          </p:cNvPr>
          <p:cNvSpPr/>
          <p:nvPr/>
        </p:nvSpPr>
        <p:spPr>
          <a:xfrm>
            <a:off x="508000" y="1651000"/>
            <a:ext cx="2641600" cy="21209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300" b="1" dirty="0">
                <a:solidFill>
                  <a:srgbClr val="FFFFFF"/>
                </a:solidFill>
                <a:latin typeface="Meiryo" panose="020B0604030504040204" pitchFamily="50" charset="-128"/>
              </a:rPr>
              <a:t>弱・強攻撃の派生コンボ</a:t>
            </a:r>
          </a:p>
          <a:p>
            <a:pPr algn="ctr"/>
            <a:r>
              <a:rPr kumimoji="1" lang="ja-JP" altLang="en-US" sz="1000" dirty="0">
                <a:solidFill>
                  <a:srgbClr val="CDCDD2"/>
                </a:solidFill>
                <a:latin typeface="Meiryo" panose="020B0604030504040204" pitchFamily="50" charset="-128"/>
              </a:rPr>
              <a:t>弱攻撃と強攻撃を派生させた基本コンボ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A12F00EF-44E9-0447-6093-F4DDDD351142}"/>
              </a:ext>
            </a:extLst>
          </p:cNvPr>
          <p:cNvSpPr/>
          <p:nvPr/>
        </p:nvSpPr>
        <p:spPr>
          <a:xfrm>
            <a:off x="2768600" y="1727200"/>
            <a:ext cx="304800" cy="304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○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A4BF8BB0-CF49-F81C-77FF-4762F4B3AFBA}"/>
              </a:ext>
            </a:extLst>
          </p:cNvPr>
          <p:cNvSpPr/>
          <p:nvPr/>
        </p:nvSpPr>
        <p:spPr>
          <a:xfrm>
            <a:off x="3352800" y="1651000"/>
            <a:ext cx="2641600" cy="21209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" panose="020B0604030504040204" pitchFamily="50" charset="-128"/>
              </a:rPr>
              <a:t>手裏剣（飛び道具）</a:t>
            </a:r>
          </a:p>
          <a:p>
            <a:pPr algn="ctr"/>
            <a:r>
              <a:rPr kumimoji="1" lang="ja-JP" altLang="en-US" sz="1000">
                <a:solidFill>
                  <a:srgbClr val="CDCDD2"/>
                </a:solidFill>
                <a:latin typeface="Meiryo" panose="020B0604030504040204" pitchFamily="50" charset="-128"/>
              </a:rPr>
              <a:t>遠距離を牽制する飛び道具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5EEBA9CD-FDF4-C38F-A024-85E0BA6ED25E}"/>
              </a:ext>
            </a:extLst>
          </p:cNvPr>
          <p:cNvSpPr/>
          <p:nvPr/>
        </p:nvSpPr>
        <p:spPr>
          <a:xfrm>
            <a:off x="5613400" y="1727200"/>
            <a:ext cx="304800" cy="304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○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016E802-4C1D-B2C8-D0F0-98E6E5AFB4E8}"/>
              </a:ext>
            </a:extLst>
          </p:cNvPr>
          <p:cNvSpPr/>
          <p:nvPr/>
        </p:nvSpPr>
        <p:spPr>
          <a:xfrm>
            <a:off x="508000" y="4063712"/>
            <a:ext cx="2641600" cy="2120900"/>
          </a:xfrm>
          <a:prstGeom prst="roundRect">
            <a:avLst>
              <a:gd name="adj" fmla="val 7000"/>
            </a:avLst>
          </a:prstGeom>
          <a:solidFill>
            <a:srgbClr val="28210C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300" b="1" dirty="0">
                <a:solidFill>
                  <a:srgbClr val="FFFFFF"/>
                </a:solidFill>
                <a:latin typeface="Meiryo" panose="020B0604030504040204" pitchFamily="50" charset="-128"/>
              </a:rPr>
              <a:t>武器のホットスワップ</a:t>
            </a:r>
          </a:p>
          <a:p>
            <a:pPr algn="ctr"/>
            <a:r>
              <a:rPr kumimoji="1" lang="ja-JP" altLang="en-US" sz="1000" dirty="0">
                <a:solidFill>
                  <a:srgbClr val="CDCDD2"/>
                </a:solidFill>
                <a:latin typeface="Meiryo" panose="020B0604030504040204" pitchFamily="50" charset="-128"/>
              </a:rPr>
              <a:t>戦闘中の武器切り替えでコンボをつなぐ。モーション数は要検討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9D57ECF9-D976-CF81-454A-875D476B8139}"/>
              </a:ext>
            </a:extLst>
          </p:cNvPr>
          <p:cNvSpPr/>
          <p:nvPr/>
        </p:nvSpPr>
        <p:spPr>
          <a:xfrm>
            <a:off x="2669309" y="4184650"/>
            <a:ext cx="304800" cy="304800"/>
          </a:xfrm>
          <a:prstGeom prst="ellipse">
            <a:avLst/>
          </a:prstGeom>
          <a:solidFill>
            <a:srgbClr val="FFB3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200" b="1" dirty="0">
                <a:solidFill>
                  <a:srgbClr val="000000"/>
                </a:solidFill>
                <a:latin typeface="Meiryo" panose="020B0604030504040204" pitchFamily="50" charset="-128"/>
              </a:rPr>
              <a:t>▲</a:t>
            </a:r>
            <a:endParaRPr lang="en-US" altLang="ja-JP" sz="1200" b="1" dirty="0">
              <a:solidFill>
                <a:srgbClr val="000000"/>
              </a:solidFill>
              <a:latin typeface="Meiryo" panose="020B0604030504040204" pitchFamily="50" charset="-128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8F9B71AF-5E6E-E90B-8BD8-E7C445567EAF}"/>
              </a:ext>
            </a:extLst>
          </p:cNvPr>
          <p:cNvSpPr/>
          <p:nvPr/>
        </p:nvSpPr>
        <p:spPr>
          <a:xfrm>
            <a:off x="6324602" y="1651000"/>
            <a:ext cx="2641600" cy="21209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" panose="020B0604030504040204" pitchFamily="50" charset="-128"/>
              </a:rPr>
              <a:t>崩撃</a:t>
            </a:r>
          </a:p>
          <a:p>
            <a:pPr algn="ctr"/>
            <a:r>
              <a:rPr kumimoji="1" lang="ja-JP" altLang="en-US" sz="1000">
                <a:solidFill>
                  <a:srgbClr val="CDCDD2"/>
                </a:solidFill>
                <a:latin typeface="Meiryo" panose="020B0604030504040204" pitchFamily="50" charset="-128"/>
              </a:rPr>
              <a:t>鵺の型でガード不能攻撃に対抗するカウンター技。バトルデザイン的にマスト</a:t>
            </a: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30E8A1AC-1626-97CB-B7FF-70334A30E9E5}"/>
              </a:ext>
            </a:extLst>
          </p:cNvPr>
          <p:cNvSpPr/>
          <p:nvPr/>
        </p:nvSpPr>
        <p:spPr>
          <a:xfrm>
            <a:off x="8661402" y="1727200"/>
            <a:ext cx="304800" cy="304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○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1C8927B-D589-509F-5B6D-3293B5958191}"/>
              </a:ext>
            </a:extLst>
          </p:cNvPr>
          <p:cNvSpPr txBox="1"/>
          <p:nvPr/>
        </p:nvSpPr>
        <p:spPr>
          <a:xfrm>
            <a:off x="11430000" y="6413500"/>
            <a:ext cx="50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96969B"/>
                </a:solidFill>
                <a:latin typeface="Meiryo" panose="020B0604030504040204" pitchFamily="50" charset="-128"/>
              </a:rPr>
              <a:t>6</a:t>
            </a:r>
            <a:endParaRPr kumimoji="1" lang="ja-JP" altLang="en-US" sz="1000">
              <a:solidFill>
                <a:srgbClr val="96969B"/>
              </a:solidFill>
              <a:latin typeface="Meiryo" panose="020B0604030504040204" pitchFamily="50" charset="-128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9B8DC328-453D-3E2A-917C-49BC3C6F61C3}"/>
              </a:ext>
            </a:extLst>
          </p:cNvPr>
          <p:cNvSpPr/>
          <p:nvPr/>
        </p:nvSpPr>
        <p:spPr>
          <a:xfrm>
            <a:off x="3352800" y="4063712"/>
            <a:ext cx="2641600" cy="21209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lang="ja-JP" altLang="en-US" sz="1300" b="1" dirty="0">
                <a:solidFill>
                  <a:srgbClr val="FFFFFF"/>
                </a:solidFill>
                <a:latin typeface="Meiryo" panose="020B0604030504040204" pitchFamily="50" charset="-128"/>
              </a:rPr>
              <a:t>ジャスト回避</a:t>
            </a:r>
            <a:endParaRPr kumimoji="1" lang="ja-JP" altLang="en-US" sz="1300" b="1" dirty="0">
              <a:solidFill>
                <a:srgbClr val="FFFFFF"/>
              </a:solidFill>
              <a:latin typeface="Meiryo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rgbClr val="CDCDD2"/>
                </a:solidFill>
                <a:latin typeface="Meiryo" panose="020B0604030504040204" pitchFamily="50" charset="-128"/>
              </a:rPr>
              <a:t>敵の攻撃をよける</a:t>
            </a:r>
            <a:endParaRPr kumimoji="1" lang="ja-JP" altLang="en-US" sz="1000" dirty="0">
              <a:solidFill>
                <a:srgbClr val="CDCDD2"/>
              </a:solidFill>
              <a:latin typeface="Meiryo" panose="020B0604030504040204" pitchFamily="50" charset="-128"/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359233D0-298E-729A-30AF-07BCD1F9DCFD}"/>
              </a:ext>
            </a:extLst>
          </p:cNvPr>
          <p:cNvSpPr/>
          <p:nvPr/>
        </p:nvSpPr>
        <p:spPr>
          <a:xfrm>
            <a:off x="5613400" y="4139912"/>
            <a:ext cx="304800" cy="304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○</a:t>
            </a:r>
          </a:p>
        </p:txBody>
      </p:sp>
      <p:sp>
        <p:nvSpPr>
          <p:cNvPr id="23" name="参考リンク注記"/>
          <p:cNvSpPr txBox="1"/>
          <p:nvPr/>
        </p:nvSpPr>
        <p:spPr>
          <a:xfrm>
            <a:off x="508000" y="6413500"/>
            <a:ext cx="850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1000" i="1" dirty="0">
                <a:solidFill>
                  <a:srgbClr val="96969B"/>
                </a:solidFill>
                <a:latin typeface="Meiryo" panose="020B0604030504040204" pitchFamily="50" charset="-128"/>
              </a:rPr>
              <a:t>→ 崩撃の参考動画は P.9「参考:アクション参考リンク集」へ</a:t>
            </a:r>
          </a:p>
        </p:txBody>
      </p:sp>
    </p:spTree>
    <p:extLst>
      <p:ext uri="{BB962C8B-B14F-4D97-AF65-F5344CB8AC3E}">
        <p14:creationId xmlns:p14="http://schemas.microsoft.com/office/powerpoint/2010/main" val="2472697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16F426B-A26B-B26F-2F71-02B19098588F}"/>
              </a:ext>
            </a:extLst>
          </p:cNvPr>
          <p:cNvSpPr txBox="1"/>
          <p:nvPr/>
        </p:nvSpPr>
        <p:spPr>
          <a:xfrm>
            <a:off x="508000" y="5080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2800" b="1" i="1" u="sng" dirty="0">
                <a:solidFill>
                  <a:srgbClr val="FFFFFF"/>
                </a:solidFill>
                <a:latin typeface="Meiryo" panose="020B0604030504040204" pitchFamily="50" charset="-128"/>
              </a:rPr>
              <a:t>処刑・忍殺系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4F180F-32F9-AF66-FD5B-BA6E173FD344}"/>
              </a:ext>
            </a:extLst>
          </p:cNvPr>
          <p:cNvSpPr txBox="1"/>
          <p:nvPr/>
        </p:nvSpPr>
        <p:spPr>
          <a:xfrm>
            <a:off x="508000" y="1066800"/>
            <a:ext cx="1117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1400" dirty="0">
                <a:solidFill>
                  <a:srgbClr val="FFCB00"/>
                </a:solidFill>
                <a:latin typeface="Meiryo" panose="020B0604030504040204" pitchFamily="50" charset="-128"/>
              </a:rPr>
              <a:t>★ 本企画で一番作り込みたいこだわりポイント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C24AFBD-6479-5E14-D234-750FFDF06CFE}"/>
              </a:ext>
            </a:extLst>
          </p:cNvPr>
          <p:cNvSpPr/>
          <p:nvPr/>
        </p:nvSpPr>
        <p:spPr>
          <a:xfrm>
            <a:off x="508000" y="1778000"/>
            <a:ext cx="5486400" cy="20574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700" b="1">
                <a:solidFill>
                  <a:srgbClr val="FFFFFF"/>
                </a:solidFill>
                <a:latin typeface="Meiryo" panose="020B0604030504040204" pitchFamily="50" charset="-128"/>
              </a:rPr>
              <a:t>部位破壊</a:t>
            </a:r>
          </a:p>
          <a:p>
            <a:pPr algn="ctr"/>
            <a:r>
              <a:rPr kumimoji="1" lang="ja-JP" altLang="en-US" sz="1200">
                <a:solidFill>
                  <a:srgbClr val="CDCDD2"/>
                </a:solidFill>
                <a:latin typeface="Meiryo" panose="020B0604030504040204" pitchFamily="50" charset="-128"/>
              </a:rPr>
              <a:t>絶対にやりたい要素。攻撃の手応えと爽快感の核になる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8D2B6B67-7531-DC77-E59C-0AAD445F335D}"/>
              </a:ext>
            </a:extLst>
          </p:cNvPr>
          <p:cNvSpPr/>
          <p:nvPr/>
        </p:nvSpPr>
        <p:spPr>
          <a:xfrm>
            <a:off x="5613400" y="1854200"/>
            <a:ext cx="304800" cy="304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○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BF60A57-BEE1-6813-23B7-01583CFC2C79}"/>
              </a:ext>
            </a:extLst>
          </p:cNvPr>
          <p:cNvSpPr/>
          <p:nvPr/>
        </p:nvSpPr>
        <p:spPr>
          <a:xfrm>
            <a:off x="6197600" y="1778000"/>
            <a:ext cx="5486400" cy="20574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700" b="1" dirty="0">
                <a:solidFill>
                  <a:srgbClr val="FFFFFF"/>
                </a:solidFill>
                <a:latin typeface="Meiryo" panose="020B0604030504040204" pitchFamily="50" charset="-128"/>
              </a:rPr>
              <a:t>絶技／絶技引導／着地絶技</a:t>
            </a:r>
          </a:p>
          <a:p>
            <a:pPr algn="ctr"/>
            <a:r>
              <a:rPr kumimoji="1" lang="ja-JP" altLang="en-US" sz="1200" dirty="0">
                <a:solidFill>
                  <a:srgbClr val="CDCDD2"/>
                </a:solidFill>
                <a:latin typeface="Meiryo" panose="020B0604030504040204" pitchFamily="50" charset="-128"/>
              </a:rPr>
              <a:t>部位破壊した敵へのとどめ技。カメラワークにこだわって演出したい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9F9DF201-53ED-CB21-7B03-18CBB27B007C}"/>
              </a:ext>
            </a:extLst>
          </p:cNvPr>
          <p:cNvSpPr/>
          <p:nvPr/>
        </p:nvSpPr>
        <p:spPr>
          <a:xfrm>
            <a:off x="11303000" y="1854200"/>
            <a:ext cx="304800" cy="304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○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D4F3789B-5753-EF41-1594-AE02EC86F4A1}"/>
              </a:ext>
            </a:extLst>
          </p:cNvPr>
          <p:cNvSpPr/>
          <p:nvPr/>
        </p:nvSpPr>
        <p:spPr>
          <a:xfrm>
            <a:off x="508000" y="4038600"/>
            <a:ext cx="5486400" cy="20574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700" b="1" dirty="0">
                <a:solidFill>
                  <a:srgbClr val="FFFFFF"/>
                </a:solidFill>
                <a:latin typeface="Meiryo" panose="020B0604030504040204" pitchFamily="50" charset="-128"/>
              </a:rPr>
              <a:t>暗殺／飛び込み暗殺</a:t>
            </a:r>
          </a:p>
          <a:p>
            <a:pPr algn="ctr"/>
            <a:r>
              <a:rPr kumimoji="1" lang="ja-JP" altLang="en-US" sz="1200" dirty="0">
                <a:solidFill>
                  <a:srgbClr val="CDCDD2"/>
                </a:solidFill>
                <a:latin typeface="Meiryo" panose="020B0604030504040204" pitchFamily="50" charset="-128"/>
              </a:rPr>
              <a:t>ステルス殺。忍殺。これもカメラワーク変えたい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CF92E081-28F5-0CCB-0BEF-CA238F052764}"/>
              </a:ext>
            </a:extLst>
          </p:cNvPr>
          <p:cNvSpPr/>
          <p:nvPr/>
        </p:nvSpPr>
        <p:spPr>
          <a:xfrm>
            <a:off x="5613400" y="4114800"/>
            <a:ext cx="304800" cy="304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A85A2B1-653F-E10B-5B9D-DE7C28CAE8A7}"/>
              </a:ext>
            </a:extLst>
          </p:cNvPr>
          <p:cNvSpPr txBox="1"/>
          <p:nvPr/>
        </p:nvSpPr>
        <p:spPr>
          <a:xfrm>
            <a:off x="11430000" y="6413500"/>
            <a:ext cx="50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96969B"/>
                </a:solidFill>
                <a:latin typeface="Meiryo" panose="020B0604030504040204" pitchFamily="50" charset="-128"/>
              </a:rPr>
              <a:t>8</a:t>
            </a:r>
            <a:endParaRPr kumimoji="1" lang="ja-JP" altLang="en-US" sz="1000">
              <a:solidFill>
                <a:srgbClr val="96969B"/>
              </a:solidFill>
              <a:latin typeface="Meiryo" panose="020B0604030504040204" pitchFamily="50" charset="-128"/>
            </a:endParaRPr>
          </a:p>
        </p:txBody>
      </p:sp>
      <p:sp>
        <p:nvSpPr>
          <p:cNvPr id="13" name="参考リンク注記"/>
          <p:cNvSpPr txBox="1"/>
          <p:nvPr/>
        </p:nvSpPr>
        <p:spPr>
          <a:xfrm>
            <a:off x="508000" y="6413500"/>
            <a:ext cx="850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1000" i="1" dirty="0">
                <a:solidFill>
                  <a:srgbClr val="96969B"/>
                </a:solidFill>
                <a:latin typeface="Meiryo" panose="020B0604030504040204" pitchFamily="50" charset="-128"/>
              </a:rPr>
              <a:t>→ 部位破壊・処刑演出の参考動画は P.9「参考:アクション参考リンク集」へ</a:t>
            </a:r>
          </a:p>
        </p:txBody>
      </p:sp>
    </p:spTree>
    <p:extLst>
      <p:ext uri="{BB962C8B-B14F-4D97-AF65-F5344CB8AC3E}">
        <p14:creationId xmlns:p14="http://schemas.microsoft.com/office/powerpoint/2010/main" val="3144071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6277124-A4F9-4B56-3929-998CF447AE77}"/>
              </a:ext>
            </a:extLst>
          </p:cNvPr>
          <p:cNvSpPr txBox="1"/>
          <p:nvPr/>
        </p:nvSpPr>
        <p:spPr>
          <a:xfrm>
            <a:off x="508000" y="508000"/>
            <a:ext cx="2909455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ja-JP" altLang="en-US" sz="2800" b="1" i="1" u="sng" dirty="0">
                <a:solidFill>
                  <a:srgbClr val="FFFFFF"/>
                </a:solidFill>
                <a:latin typeface="Meiryo" panose="020B0604030504040204" pitchFamily="50" charset="-128"/>
              </a:rPr>
              <a:t>敵</a:t>
            </a:r>
            <a:endParaRPr kumimoji="1" lang="ja-JP" altLang="en-US" sz="2800" b="1" i="1" u="sng" dirty="0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59924A8-B64E-2A96-35F0-572D8617ED7C}"/>
              </a:ext>
            </a:extLst>
          </p:cNvPr>
          <p:cNvSpPr txBox="1"/>
          <p:nvPr/>
        </p:nvSpPr>
        <p:spPr>
          <a:xfrm>
            <a:off x="811943" y="1148505"/>
            <a:ext cx="29466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雑魚的</a:t>
            </a:r>
            <a:r>
              <a:rPr kumimoji="1" lang="en-US" altLang="ja-JP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:2-3</a:t>
            </a:r>
            <a:r>
              <a:rPr kumimoji="1" lang="ja-JP" altLang="en-US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種、ボス</a:t>
            </a:r>
            <a:r>
              <a:rPr kumimoji="1" lang="en-US" altLang="ja-JP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:1</a:t>
            </a:r>
            <a:r>
              <a:rPr kumimoji="1" lang="ja-JP" altLang="en-US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種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F0D0A6C-B44F-7DF9-4944-232BF33755EB}"/>
              </a:ext>
            </a:extLst>
          </p:cNvPr>
          <p:cNvSpPr txBox="1"/>
          <p:nvPr/>
        </p:nvSpPr>
        <p:spPr>
          <a:xfrm>
            <a:off x="658814" y="311166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bg1"/>
                </a:solidFill>
              </a:rPr>
              <a:t>・</a:t>
            </a:r>
            <a:r>
              <a:rPr kumimoji="1" lang="ja-JP" altLang="en-US" sz="2800" b="1" u="sng" dirty="0">
                <a:solidFill>
                  <a:schemeClr val="bg1"/>
                </a:solidFill>
              </a:rPr>
              <a:t>崩撃について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79CAA91-2D83-2FB0-4341-376FB0ADB749}"/>
              </a:ext>
            </a:extLst>
          </p:cNvPr>
          <p:cNvSpPr/>
          <p:nvPr/>
        </p:nvSpPr>
        <p:spPr>
          <a:xfrm>
            <a:off x="811943" y="3746340"/>
            <a:ext cx="5090093" cy="2731655"/>
          </a:xfrm>
          <a:prstGeom prst="round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3E76BDA-1C53-CF58-4A88-0D169DD003F2}"/>
              </a:ext>
            </a:extLst>
          </p:cNvPr>
          <p:cNvSpPr/>
          <p:nvPr/>
        </p:nvSpPr>
        <p:spPr>
          <a:xfrm>
            <a:off x="1451736" y="4457986"/>
            <a:ext cx="1653926" cy="14593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E9051C1-69D3-F334-BBB1-FB78194C7D46}"/>
              </a:ext>
            </a:extLst>
          </p:cNvPr>
          <p:cNvSpPr txBox="1"/>
          <p:nvPr/>
        </p:nvSpPr>
        <p:spPr>
          <a:xfrm>
            <a:off x="1579629" y="4895272"/>
            <a:ext cx="1398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>
                <a:solidFill>
                  <a:schemeClr val="bg1"/>
                </a:solidFill>
              </a:rPr>
              <a:t>Attack</a:t>
            </a:r>
            <a:endParaRPr kumimoji="1" lang="ja-JP" altLang="en-US" sz="3200" dirty="0">
              <a:solidFill>
                <a:schemeClr val="bg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2BF7732-9C45-94B1-D411-1592BAB2527E}"/>
              </a:ext>
            </a:extLst>
          </p:cNvPr>
          <p:cNvSpPr/>
          <p:nvPr/>
        </p:nvSpPr>
        <p:spPr>
          <a:xfrm>
            <a:off x="3542871" y="4457986"/>
            <a:ext cx="1653926" cy="145934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C3ED62A-6637-435F-8FEE-37459C9736F1}"/>
              </a:ext>
            </a:extLst>
          </p:cNvPr>
          <p:cNvSpPr txBox="1"/>
          <p:nvPr/>
        </p:nvSpPr>
        <p:spPr>
          <a:xfrm>
            <a:off x="3670764" y="4649049"/>
            <a:ext cx="13981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chemeClr val="bg1"/>
                </a:solidFill>
              </a:rPr>
              <a:t>Super</a:t>
            </a:r>
            <a:br>
              <a:rPr kumimoji="1" lang="en-US" altLang="ja-JP" sz="3200" dirty="0">
                <a:solidFill>
                  <a:schemeClr val="bg1"/>
                </a:solidFill>
              </a:rPr>
            </a:br>
            <a:r>
              <a:rPr kumimoji="1" lang="en-US" altLang="ja-JP" sz="3200" dirty="0">
                <a:solidFill>
                  <a:schemeClr val="bg1"/>
                </a:solidFill>
              </a:rPr>
              <a:t>Attack</a:t>
            </a:r>
            <a:endParaRPr kumimoji="1" lang="ja-JP" altLang="en-US" sz="3200" dirty="0">
              <a:solidFill>
                <a:schemeClr val="bg1"/>
              </a:solidFill>
            </a:endParaRPr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7B5DF3F0-6F56-78D2-09B0-9BDBADA9C7F2}"/>
              </a:ext>
            </a:extLst>
          </p:cNvPr>
          <p:cNvSpPr/>
          <p:nvPr/>
        </p:nvSpPr>
        <p:spPr>
          <a:xfrm rot="9723410">
            <a:off x="5312399" y="4143369"/>
            <a:ext cx="1567202" cy="52322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1E723CC-4F1E-FD87-2D0D-2CF060DC1984}"/>
              </a:ext>
            </a:extLst>
          </p:cNvPr>
          <p:cNvSpPr txBox="1"/>
          <p:nvPr/>
        </p:nvSpPr>
        <p:spPr>
          <a:xfrm>
            <a:off x="6197600" y="3515507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FF00"/>
                </a:solidFill>
              </a:rPr>
              <a:t>この攻撃の時にスキルを使うとスタン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5EDCC3B-B110-90A1-A511-EB8B1F5AC416}"/>
              </a:ext>
            </a:extLst>
          </p:cNvPr>
          <p:cNvSpPr txBox="1"/>
          <p:nvPr/>
        </p:nvSpPr>
        <p:spPr>
          <a:xfrm>
            <a:off x="5491961" y="64354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chemeClr val="bg1"/>
                </a:solidFill>
              </a:rPr>
              <a:t>ボスの行動</a:t>
            </a:r>
            <a:endParaRPr kumimoji="1" lang="ja-JP" altLang="en-US" sz="2400" b="1" dirty="0">
              <a:solidFill>
                <a:schemeClr val="bg1"/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A3F1AC2-1C61-B416-98BC-79195B094981}"/>
              </a:ext>
            </a:extLst>
          </p:cNvPr>
          <p:cNvSpPr txBox="1"/>
          <p:nvPr/>
        </p:nvSpPr>
        <p:spPr>
          <a:xfrm>
            <a:off x="5491961" y="1186507"/>
            <a:ext cx="454483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・連続攻撃</a:t>
            </a:r>
            <a:br>
              <a:rPr lang="en-US" altLang="ja-JP" sz="2000" b="1" dirty="0">
                <a:solidFill>
                  <a:schemeClr val="bg1"/>
                </a:solidFill>
                <a:highlight>
                  <a:srgbClr val="808080"/>
                </a:highlight>
              </a:rPr>
            </a:br>
            <a:r>
              <a:rPr lang="ja-JP" altLang="en-US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・スーパーアーマー攻撃</a:t>
            </a:r>
            <a:br>
              <a:rPr lang="en-US" altLang="ja-JP" sz="2000" b="1" dirty="0">
                <a:solidFill>
                  <a:schemeClr val="bg1"/>
                </a:solidFill>
                <a:highlight>
                  <a:srgbClr val="808080"/>
                </a:highlight>
              </a:rPr>
            </a:br>
            <a:r>
              <a:rPr lang="ja-JP" altLang="en-US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・遠距離攻撃</a:t>
            </a:r>
            <a:br>
              <a:rPr lang="en-US" altLang="ja-JP" sz="2000" b="1" dirty="0">
                <a:solidFill>
                  <a:schemeClr val="bg1"/>
                </a:solidFill>
                <a:highlight>
                  <a:srgbClr val="808080"/>
                </a:highlight>
              </a:rPr>
            </a:br>
            <a:r>
              <a:rPr lang="ja-JP" altLang="en-US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・そこまでこだわった感じにはしない</a:t>
            </a:r>
            <a:endParaRPr kumimoji="1" lang="ja-JP" altLang="en-US" sz="20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26" name="参考リンク注記"/>
          <p:cNvSpPr txBox="1"/>
          <p:nvPr/>
        </p:nvSpPr>
        <p:spPr>
          <a:xfrm>
            <a:off x="8200000" y="560000"/>
            <a:ext cx="350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1000" i="1" dirty="0">
                <a:solidFill>
                  <a:srgbClr val="96969B"/>
                </a:solidFill>
                <a:latin typeface="Meiryo" panose="020B0604030504040204" pitchFamily="50" charset="-128"/>
              </a:rPr>
              <a:t>→ 崩撃の参考動画は P.9「参考:アクション参考リンク集」へ</a:t>
            </a:r>
          </a:p>
        </p:txBody>
      </p:sp>
    </p:spTree>
    <p:extLst>
      <p:ext uri="{BB962C8B-B14F-4D97-AF65-F5344CB8AC3E}">
        <p14:creationId xmlns:p14="http://schemas.microsoft.com/office/powerpoint/2010/main" val="1299113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37ECFB7-3CC0-81B6-BA81-89AD0C7C0709}"/>
              </a:ext>
            </a:extLst>
          </p:cNvPr>
          <p:cNvSpPr txBox="1"/>
          <p:nvPr/>
        </p:nvSpPr>
        <p:spPr>
          <a:xfrm>
            <a:off x="508000" y="261561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ja-JP" altLang="en-US" sz="2800" b="1" i="1" u="sng" dirty="0">
                <a:solidFill>
                  <a:srgbClr val="FFFFFF"/>
                </a:solidFill>
                <a:latin typeface="Meiryo" panose="020B0604030504040204" pitchFamily="50" charset="-128"/>
              </a:rPr>
              <a:t>ゲーム進行</a:t>
            </a:r>
            <a:endParaRPr kumimoji="1" lang="ja-JP" altLang="en-US" sz="2800" b="1" i="1" u="sng" dirty="0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B54F70C-5C4B-D90D-2A6C-7DF606583138}"/>
              </a:ext>
            </a:extLst>
          </p:cNvPr>
          <p:cNvSpPr/>
          <p:nvPr/>
        </p:nvSpPr>
        <p:spPr>
          <a:xfrm>
            <a:off x="1193800" y="1465764"/>
            <a:ext cx="2613891" cy="1380836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700" b="1" dirty="0">
                <a:solidFill>
                  <a:srgbClr val="FFFFFF"/>
                </a:solidFill>
                <a:latin typeface="Meiryo" panose="020B0604030504040204" pitchFamily="50" charset="-128"/>
              </a:rPr>
              <a:t>チュートリアル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0C5551A7-955C-32EE-9858-2D710A5E7AD5}"/>
              </a:ext>
            </a:extLst>
          </p:cNvPr>
          <p:cNvSpPr/>
          <p:nvPr/>
        </p:nvSpPr>
        <p:spPr>
          <a:xfrm>
            <a:off x="1814945" y="4634361"/>
            <a:ext cx="2613891" cy="1380836"/>
          </a:xfrm>
          <a:prstGeom prst="roundRect">
            <a:avLst>
              <a:gd name="adj" fmla="val 7000"/>
            </a:avLst>
          </a:prstGeom>
          <a:solidFill>
            <a:schemeClr val="accent6">
              <a:lumMod val="50000"/>
            </a:schemeClr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lang="en-US" altLang="ja-JP" sz="1700" b="1" dirty="0">
                <a:solidFill>
                  <a:srgbClr val="FFFFFF"/>
                </a:solidFill>
                <a:latin typeface="Meiryo" panose="020B0604030504040204" pitchFamily="50" charset="-128"/>
              </a:rPr>
              <a:t>Faze1</a:t>
            </a:r>
            <a:r>
              <a:rPr lang="ja-JP" altLang="en-US" sz="1700" b="1" dirty="0">
                <a:solidFill>
                  <a:srgbClr val="FFFFFF"/>
                </a:solidFill>
                <a:latin typeface="Meiryo" panose="020B0604030504040204" pitchFamily="50" charset="-128"/>
              </a:rPr>
              <a:t>～４</a:t>
            </a:r>
            <a:endParaRPr kumimoji="1" lang="ja-JP" altLang="en-US" sz="1700" b="1" dirty="0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A9B0AD07-69C3-A01A-A5B6-5019374BF3C2}"/>
              </a:ext>
            </a:extLst>
          </p:cNvPr>
          <p:cNvSpPr/>
          <p:nvPr/>
        </p:nvSpPr>
        <p:spPr>
          <a:xfrm>
            <a:off x="5726545" y="4560470"/>
            <a:ext cx="2613891" cy="1380836"/>
          </a:xfrm>
          <a:prstGeom prst="roundRect">
            <a:avLst>
              <a:gd name="adj" fmla="val 7000"/>
            </a:avLst>
          </a:prstGeom>
          <a:solidFill>
            <a:schemeClr val="accent6">
              <a:lumMod val="50000"/>
            </a:schemeClr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700" b="1" dirty="0">
                <a:solidFill>
                  <a:srgbClr val="FFFFFF"/>
                </a:solidFill>
                <a:latin typeface="Meiryo" panose="020B0604030504040204" pitchFamily="50" charset="-128"/>
              </a:rPr>
              <a:t>ボス戦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42BB737B-A57A-4A66-BDF7-7C1DF6CC753E}"/>
              </a:ext>
            </a:extLst>
          </p:cNvPr>
          <p:cNvSpPr/>
          <p:nvPr/>
        </p:nvSpPr>
        <p:spPr>
          <a:xfrm>
            <a:off x="4486563" y="4906730"/>
            <a:ext cx="1182255" cy="344158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9101F98-4C33-77CE-C559-6991C1E45C2A}"/>
              </a:ext>
            </a:extLst>
          </p:cNvPr>
          <p:cNvSpPr txBox="1"/>
          <p:nvPr/>
        </p:nvSpPr>
        <p:spPr>
          <a:xfrm>
            <a:off x="1535274" y="4105837"/>
            <a:ext cx="45448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solidFill>
                  <a:srgbClr val="FFFF00"/>
                </a:solidFill>
                <a:highlight>
                  <a:srgbClr val="808080"/>
                </a:highlight>
              </a:rPr>
              <a:t>壁走りや壁けり、フックを使って移動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59C0DC4-5BAD-9D64-A856-C51FCB912C07}"/>
              </a:ext>
            </a:extLst>
          </p:cNvPr>
          <p:cNvSpPr txBox="1"/>
          <p:nvPr/>
        </p:nvSpPr>
        <p:spPr>
          <a:xfrm>
            <a:off x="2945544" y="326469"/>
            <a:ext cx="3409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solidFill>
                  <a:schemeClr val="bg1"/>
                </a:solidFill>
              </a:rPr>
              <a:t>一旦、</a:t>
            </a:r>
            <a:r>
              <a:rPr lang="en-US" altLang="ja-JP" sz="2000" b="1" dirty="0">
                <a:solidFill>
                  <a:schemeClr val="bg1"/>
                </a:solidFill>
              </a:rPr>
              <a:t>1</a:t>
            </a:r>
            <a:r>
              <a:rPr lang="ja-JP" altLang="en-US" sz="2000" b="1" dirty="0">
                <a:solidFill>
                  <a:schemeClr val="bg1"/>
                </a:solidFill>
              </a:rPr>
              <a:t>ステージで作る想定</a:t>
            </a:r>
            <a:endParaRPr kumimoji="1" lang="ja-JP" altLang="en-US" sz="2000" b="1" dirty="0">
              <a:solidFill>
                <a:schemeClr val="bg1"/>
              </a:solidFill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55821E34-DFF4-01D7-F977-739FB9A74052}"/>
              </a:ext>
            </a:extLst>
          </p:cNvPr>
          <p:cNvSpPr/>
          <p:nvPr/>
        </p:nvSpPr>
        <p:spPr>
          <a:xfrm>
            <a:off x="809300" y="3043533"/>
            <a:ext cx="9719035" cy="3393649"/>
          </a:xfrm>
          <a:prstGeom prst="round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39CB19D-6D29-7D2E-825A-820E6B5D1942}"/>
              </a:ext>
            </a:extLst>
          </p:cNvPr>
          <p:cNvSpPr/>
          <p:nvPr/>
        </p:nvSpPr>
        <p:spPr>
          <a:xfrm>
            <a:off x="4486563" y="1185564"/>
            <a:ext cx="4322618" cy="20574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lang="ja-JP" altLang="en-US" sz="1700" b="1" dirty="0">
                <a:solidFill>
                  <a:srgbClr val="FFFFFF"/>
                </a:solidFill>
                <a:latin typeface="Meiryo" panose="020B0604030504040204" pitchFamily="50" charset="-128"/>
              </a:rPr>
              <a:t>ステージ</a:t>
            </a:r>
            <a:r>
              <a:rPr lang="en-US" altLang="ja-JP" sz="1700" b="1" dirty="0">
                <a:solidFill>
                  <a:srgbClr val="FFFFFF"/>
                </a:solidFill>
                <a:latin typeface="Meiryo" panose="020B0604030504040204" pitchFamily="50" charset="-128"/>
              </a:rPr>
              <a:t>1</a:t>
            </a:r>
            <a:endParaRPr kumimoji="1" lang="ja-JP" altLang="en-US" sz="1700" b="1" dirty="0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6D05D65-725D-5DA5-D7D8-BAA25DE2451D}"/>
              </a:ext>
            </a:extLst>
          </p:cNvPr>
          <p:cNvSpPr txBox="1"/>
          <p:nvPr/>
        </p:nvSpPr>
        <p:spPr>
          <a:xfrm>
            <a:off x="4650498" y="2429073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チャプター</a:t>
            </a:r>
            <a:r>
              <a:rPr lang="en-US" altLang="ja-JP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1</a:t>
            </a:r>
            <a:r>
              <a:rPr lang="ja-JP" altLang="en-US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のステージを参考</a:t>
            </a:r>
            <a:br>
              <a:rPr lang="en-US" altLang="ja-JP" sz="2000" b="1" dirty="0">
                <a:solidFill>
                  <a:schemeClr val="bg1"/>
                </a:solidFill>
                <a:highlight>
                  <a:srgbClr val="808080"/>
                </a:highlight>
              </a:rPr>
            </a:br>
            <a:r>
              <a:rPr lang="ja-JP" altLang="en-US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→忍者っぽい移動などを取り入れる</a:t>
            </a:r>
            <a:endParaRPr kumimoji="1" lang="ja-JP" altLang="en-US" sz="20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07222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FE0B61F-1A57-286D-B48C-364E492C671C}"/>
              </a:ext>
            </a:extLst>
          </p:cNvPr>
          <p:cNvSpPr txBox="1"/>
          <p:nvPr/>
        </p:nvSpPr>
        <p:spPr>
          <a:xfrm>
            <a:off x="508000" y="508000"/>
            <a:ext cx="1847273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ja-JP" altLang="en-US" sz="2800" b="1" i="1" u="sng" dirty="0">
                <a:solidFill>
                  <a:srgbClr val="FFFFFF"/>
                </a:solidFill>
                <a:latin typeface="Meiryo" panose="020B0604030504040204" pitchFamily="50" charset="-128"/>
              </a:rPr>
              <a:t>最後に</a:t>
            </a:r>
            <a:endParaRPr kumimoji="1" lang="ja-JP" altLang="en-US" sz="2800" b="1" i="1" u="sng" dirty="0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3F18BA4-1F8A-02D6-F092-6851132A3281}"/>
              </a:ext>
            </a:extLst>
          </p:cNvPr>
          <p:cNvSpPr txBox="1"/>
          <p:nvPr/>
        </p:nvSpPr>
        <p:spPr>
          <a:xfrm>
            <a:off x="591128" y="1505527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  <a:highlight>
                  <a:srgbClr val="008080"/>
                </a:highlight>
              </a:rPr>
              <a:t>・今回は</a:t>
            </a:r>
            <a:r>
              <a:rPr kumimoji="1" lang="ja-JP" altLang="en-US" sz="2400" b="1" dirty="0">
                <a:solidFill>
                  <a:schemeClr val="bg1"/>
                </a:solidFill>
                <a:highlight>
                  <a:srgbClr val="008080"/>
                </a:highlight>
              </a:rPr>
              <a:t>ゲームとしての完成度の高さ</a:t>
            </a:r>
            <a:r>
              <a:rPr kumimoji="1" lang="ja-JP" altLang="en-US" sz="2400" dirty="0">
                <a:solidFill>
                  <a:schemeClr val="bg1"/>
                </a:solidFill>
                <a:highlight>
                  <a:srgbClr val="008080"/>
                </a:highlight>
              </a:rPr>
              <a:t>を目指す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1A78997-6008-D479-9E7C-AC69CF8D3F18}"/>
              </a:ext>
            </a:extLst>
          </p:cNvPr>
          <p:cNvSpPr txBox="1"/>
          <p:nvPr/>
        </p:nvSpPr>
        <p:spPr>
          <a:xfrm>
            <a:off x="591128" y="2256848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  <a:highlight>
                  <a:srgbClr val="008080"/>
                </a:highlight>
              </a:rPr>
              <a:t>・</a:t>
            </a:r>
            <a:r>
              <a:rPr lang="ja-JP" altLang="en-US" sz="2400" dirty="0">
                <a:solidFill>
                  <a:schemeClr val="bg1"/>
                </a:solidFill>
                <a:highlight>
                  <a:srgbClr val="008080"/>
                </a:highlight>
              </a:rPr>
              <a:t>細かい技術は実際にぶつかった問題との解決を想定</a:t>
            </a:r>
            <a:endParaRPr kumimoji="1" lang="ja-JP" altLang="en-US" sz="2400" dirty="0">
              <a:solidFill>
                <a:schemeClr val="bg1"/>
              </a:solidFill>
              <a:highlight>
                <a:srgbClr val="008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1630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73378A3-B7A1-6921-84B6-F0657B1ADAD0}"/>
              </a:ext>
            </a:extLst>
          </p:cNvPr>
          <p:cNvSpPr txBox="1"/>
          <p:nvPr/>
        </p:nvSpPr>
        <p:spPr>
          <a:xfrm>
            <a:off x="508000" y="5080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2800" b="1" i="1" u="sng">
                <a:solidFill>
                  <a:srgbClr val="FFFFFF"/>
                </a:solidFill>
                <a:latin typeface="Meiryo" panose="020B0604030504040204" pitchFamily="50" charset="-128"/>
              </a:rPr>
              <a:t>参考:アクション参考リンク集（NINJA GAIDEN 4）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38BCC47-3B86-81CB-9EE4-36C9572AB2EB}"/>
              </a:ext>
            </a:extLst>
          </p:cNvPr>
          <p:cNvSpPr txBox="1"/>
          <p:nvPr/>
        </p:nvSpPr>
        <p:spPr>
          <a:xfrm>
            <a:off x="1991849" y="1181269"/>
            <a:ext cx="11176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1600" b="1" dirty="0">
                <a:solidFill>
                  <a:srgbClr val="FFFF00"/>
                </a:solidFill>
                <a:latin typeface="Meiryo" panose="020B0604030504040204" pitchFamily="50" charset="-128"/>
              </a:rPr>
              <a:t>社内検討用：NINJA GAIDEN 4の参考映像/公式ブログリンク（非公開）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1A7AA75-08E3-FC98-E507-3E7B04DF98DD}"/>
              </a:ext>
            </a:extLst>
          </p:cNvPr>
          <p:cNvSpPr/>
          <p:nvPr/>
        </p:nvSpPr>
        <p:spPr>
          <a:xfrm>
            <a:off x="508000" y="1651000"/>
            <a:ext cx="3589867" cy="21209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500" b="1">
                <a:solidFill>
                  <a:srgbClr val="FFFFFF"/>
                </a:solidFill>
                <a:latin typeface="Meiryo" panose="020B0604030504040204" pitchFamily="50" charset="-128"/>
              </a:rPr>
              <a:t>壁走り</a:t>
            </a:r>
          </a:p>
          <a:p>
            <a:pPr algn="ctr"/>
            <a:r>
              <a:rPr kumimoji="1" lang="ja-JP" altLang="en-US" sz="1000" dirty="0">
                <a:solidFill>
                  <a:srgbClr val="9A9AA2"/>
                </a:solidFill>
                <a:latin typeface="Meiryo" panose="020B0604030504040204" pitchFamily="50" charset="-128"/>
              </a:rPr>
              <a:t>参考:</a:t>
            </a:r>
          </a:p>
          <a:p>
            <a:pPr algn="ctr"/>
            <a:r>
              <a:rPr kumimoji="1" lang="ja-JP" altLang="en-US" sz="1000" u="sng" dirty="0">
                <a:solidFill>
                  <a:srgbClr val="7FC8F8"/>
                </a:solidFill>
                <a:latin typeface="Meiryo" panose="020B0604030504040204" pitchFamily="50" charset="-128"/>
                <a:hlinkClick r:id="rId3"/>
              </a:rPr>
              <a:t>NG4 壁走り(Shadowless Footsteps)チュートリアル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98CD476-A2B2-F5AF-950A-2909164EE079}"/>
              </a:ext>
            </a:extLst>
          </p:cNvPr>
          <p:cNvSpPr/>
          <p:nvPr/>
        </p:nvSpPr>
        <p:spPr>
          <a:xfrm>
            <a:off x="4301067" y="1651000"/>
            <a:ext cx="3589866" cy="21209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500" b="1">
                <a:solidFill>
                  <a:srgbClr val="FFFFFF"/>
                </a:solidFill>
                <a:latin typeface="Meiryo" panose="020B0604030504040204" pitchFamily="50" charset="-128"/>
              </a:rPr>
              <a:t>壁けり</a:t>
            </a:r>
          </a:p>
          <a:p>
            <a:pPr algn="ctr"/>
            <a:r>
              <a:rPr kumimoji="1" lang="ja-JP" altLang="en-US" sz="1000" dirty="0">
                <a:solidFill>
                  <a:srgbClr val="9A9AA2"/>
                </a:solidFill>
                <a:latin typeface="Meiryo" panose="020B0604030504040204" pitchFamily="50" charset="-128"/>
              </a:rPr>
              <a:t>参考:</a:t>
            </a:r>
          </a:p>
          <a:p>
            <a:pPr algn="ctr"/>
            <a:r>
              <a:rPr kumimoji="1" lang="ja-JP" altLang="en-US" sz="1000" u="sng" dirty="0">
                <a:solidFill>
                  <a:srgbClr val="7FC8F8"/>
                </a:solidFill>
                <a:latin typeface="Meiryo" panose="020B0604030504040204" pitchFamily="50" charset="-128"/>
                <a:hlinkClick r:id="rId4"/>
              </a:rPr>
              <a:t>NG4 壁蹴り(Flying Bird Flip)チュートリアル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F168CB94-1A8B-13D9-71AF-9CF9CBDE4ECF}"/>
              </a:ext>
            </a:extLst>
          </p:cNvPr>
          <p:cNvSpPr/>
          <p:nvPr/>
        </p:nvSpPr>
        <p:spPr>
          <a:xfrm>
            <a:off x="8094133" y="1651000"/>
            <a:ext cx="3589867" cy="21209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500" b="1" dirty="0">
                <a:solidFill>
                  <a:srgbClr val="FFFFFF"/>
                </a:solidFill>
                <a:latin typeface="Meiryo" panose="020B0604030504040204" pitchFamily="50" charset="-128"/>
              </a:rPr>
              <a:t>部位破壊</a:t>
            </a:r>
          </a:p>
          <a:p>
            <a:pPr algn="ctr"/>
            <a:r>
              <a:rPr kumimoji="1" lang="ja-JP" altLang="en-US" sz="1000" dirty="0">
                <a:solidFill>
                  <a:srgbClr val="9A9AA2"/>
                </a:solidFill>
                <a:latin typeface="Meiryo" panose="020B0604030504040204" pitchFamily="50" charset="-128"/>
              </a:rPr>
              <a:t>参考:</a:t>
            </a:r>
          </a:p>
          <a:p>
            <a:pPr algn="ctr"/>
            <a:r>
              <a:rPr kumimoji="1" lang="ja-JP" altLang="en-US" sz="950" u="sng" dirty="0">
                <a:solidFill>
                  <a:srgbClr val="7FC8F8"/>
                </a:solidFill>
                <a:latin typeface="Meiryo" panose="020B0604030504040204" pitchFamily="50" charset="-128"/>
                <a:hlinkClick r:id="rId5"/>
              </a:rPr>
              <a:t>NG4 部位破壊(Obliteration)技集</a:t>
            </a:r>
          </a:p>
          <a:p>
            <a:pPr algn="ctr"/>
            <a:r>
              <a:rPr kumimoji="1" lang="ja-JP" altLang="en-US" sz="950" u="sng" dirty="0">
                <a:solidFill>
                  <a:srgbClr val="7FC8F8"/>
                </a:solidFill>
                <a:latin typeface="Meiryo" panose="020B0604030504040204" pitchFamily="50" charset="-128"/>
                <a:hlinkClick r:id="rId6"/>
              </a:rPr>
              <a:t>NG4公式動画：絶技引導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9D00111-2292-2D0A-6E17-E7FB37FDBF2F}"/>
              </a:ext>
            </a:extLst>
          </p:cNvPr>
          <p:cNvSpPr/>
          <p:nvPr/>
        </p:nvSpPr>
        <p:spPr>
          <a:xfrm>
            <a:off x="508000" y="3975100"/>
            <a:ext cx="3589867" cy="2120900"/>
          </a:xfrm>
          <a:prstGeom prst="roundRect">
            <a:avLst>
              <a:gd name="adj" fmla="val 7000"/>
            </a:avLst>
          </a:prstGeom>
          <a:solidFill>
            <a:srgbClr val="28210C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500" b="1" dirty="0">
                <a:solidFill>
                  <a:srgbClr val="FFFFFF"/>
                </a:solidFill>
                <a:latin typeface="Meiryo" panose="020B0604030504040204" pitchFamily="50" charset="-128"/>
              </a:rPr>
              <a:t>崩撃（ガード不能カウンター）</a:t>
            </a:r>
          </a:p>
          <a:p>
            <a:pPr algn="ctr"/>
            <a:r>
              <a:rPr kumimoji="1" lang="ja-JP" altLang="en-US" sz="1000" dirty="0">
                <a:solidFill>
                  <a:srgbClr val="9A9AA2"/>
                </a:solidFill>
                <a:latin typeface="Meiryo" panose="020B0604030504040204" pitchFamily="50" charset="-128"/>
              </a:rPr>
              <a:t>参考:</a:t>
            </a:r>
          </a:p>
          <a:p>
            <a:pPr algn="ctr"/>
            <a:r>
              <a:rPr kumimoji="1" lang="ja-JP" altLang="en-US" sz="950" u="sng" dirty="0">
                <a:solidFill>
                  <a:srgbClr val="7FC8F8"/>
                </a:solidFill>
                <a:latin typeface="Meiryo" panose="020B0604030504040204" pitchFamily="50" charset="-128"/>
                <a:hlinkClick r:id="rId7"/>
              </a:rPr>
              <a:t>NG4公式ブログ：崩撃について</a:t>
            </a:r>
          </a:p>
          <a:p>
            <a:pPr algn="ctr"/>
            <a:r>
              <a:rPr kumimoji="1" lang="ja-JP" altLang="en-US" sz="950" u="sng" dirty="0">
                <a:solidFill>
                  <a:srgbClr val="7FC8F8"/>
                </a:solidFill>
                <a:latin typeface="Meiryo" panose="020B0604030504040204" pitchFamily="50" charset="-128"/>
                <a:hlinkClick r:id="rId8"/>
              </a:rPr>
              <a:t>NG4公式動画：敵への崩撃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6C8873A3-7218-0441-189A-498544BDDF43}"/>
              </a:ext>
            </a:extLst>
          </p:cNvPr>
          <p:cNvSpPr/>
          <p:nvPr/>
        </p:nvSpPr>
        <p:spPr>
          <a:xfrm>
            <a:off x="4301067" y="3975100"/>
            <a:ext cx="3589866" cy="2120900"/>
          </a:xfrm>
          <a:prstGeom prst="roundRect">
            <a:avLst>
              <a:gd name="adj" fmla="val 7000"/>
            </a:avLst>
          </a:prstGeom>
          <a:solidFill>
            <a:srgbClr val="2A1A10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500" b="1">
                <a:solidFill>
                  <a:srgbClr val="FFFFFF"/>
                </a:solidFill>
                <a:latin typeface="Meiryo" panose="020B0604030504040204" pitchFamily="50" charset="-128"/>
              </a:rPr>
              <a:t>処刑・忍殺演出（カメラワーク）</a:t>
            </a:r>
          </a:p>
          <a:p>
            <a:pPr algn="ctr"/>
            <a:r>
              <a:rPr kumimoji="1" lang="ja-JP" altLang="en-US" sz="1000" dirty="0">
                <a:solidFill>
                  <a:srgbClr val="9A9AA2"/>
                </a:solidFill>
                <a:latin typeface="Meiryo" panose="020B0604030504040204" pitchFamily="50" charset="-128"/>
              </a:rPr>
              <a:t>参考:</a:t>
            </a:r>
          </a:p>
          <a:p>
            <a:pPr algn="ctr"/>
            <a:r>
              <a:rPr kumimoji="1" lang="ja-JP" altLang="en-US" sz="1000" u="sng" dirty="0">
                <a:solidFill>
                  <a:srgbClr val="7FC8F8"/>
                </a:solidFill>
                <a:latin typeface="Meiryo" panose="020B0604030504040204" pitchFamily="50" charset="-128"/>
                <a:hlinkClick r:id="rId9"/>
              </a:rPr>
              <a:t>NG4 絶技/処刑演出まとめ</a:t>
            </a:r>
          </a:p>
          <a:p>
            <a:pPr algn="ctr"/>
            <a:r>
              <a:rPr kumimoji="1" lang="ja-JP" altLang="en-US" sz="1100" u="sng" dirty="0">
                <a:solidFill>
                  <a:srgbClr val="7FC8F8"/>
                </a:solidFill>
                <a:latin typeface="Meiryo" panose="020B0604030504040204" pitchFamily="50" charset="-128"/>
                <a:hlinkClick r:id="rId10"/>
              </a:rPr>
              <a:t>NG4公式動画：ジャスト虎搏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AF2CA12-9BC9-1BFC-63A8-15933332C759}"/>
              </a:ext>
            </a:extLst>
          </p:cNvPr>
          <p:cNvSpPr txBox="1"/>
          <p:nvPr/>
        </p:nvSpPr>
        <p:spPr>
          <a:xfrm>
            <a:off x="11430000" y="6413500"/>
            <a:ext cx="50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96969B"/>
                </a:solidFill>
                <a:latin typeface="Meiryo" panose="020B0604030504040204" pitchFamily="50" charset="-128"/>
              </a:rPr>
              <a:t>9</a:t>
            </a:r>
            <a:endParaRPr kumimoji="1" lang="ja-JP" altLang="en-US" sz="1000">
              <a:solidFill>
                <a:srgbClr val="96969B"/>
              </a:solidFill>
              <a:latin typeface="Meiryo" panose="020B0604030504040204" pitchFamily="50" charset="-128"/>
            </a:endParaRPr>
          </a:p>
        </p:txBody>
      </p:sp>
      <p:sp>
        <p:nvSpPr>
          <p:cNvPr id="15" name="四角形: 角を丸くする 14"/>
          <p:cNvSpPr/>
          <p:nvPr/>
        </p:nvSpPr>
        <p:spPr>
          <a:xfrm>
            <a:off x="8094133" y="4225100"/>
            <a:ext cx="3589867" cy="2120900"/>
          </a:xfrm>
          <a:prstGeom prst="roundRect">
            <a:avLst>
              <a:gd name="adj" fmla="val 7000"/>
            </a:avLst>
          </a:prstGeom>
          <a:solidFill>
            <a:srgbClr val="132A2E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500" b="1" dirty="0">
                <a:solidFill>
                  <a:srgbClr val="FFFFFF"/>
                </a:solidFill>
                <a:latin typeface="Meiryo" panose="020B0604030504040204" pitchFamily="50" charset="-128"/>
              </a:rPr>
              <a:t>フック（風路／グラップル移動）</a:t>
            </a:r>
          </a:p>
          <a:p>
            <a:pPr algn="ctr"/>
            <a:r>
              <a:rPr kumimoji="1" lang="ja-JP" altLang="en-US" sz="1000" dirty="0">
                <a:solidFill>
                  <a:srgbClr val="9A9AA2"/>
                </a:solidFill>
                <a:latin typeface="Meiryo" panose="020B0604030504040204" pitchFamily="50" charset="-128"/>
              </a:rPr>
              <a:t>参考:</a:t>
            </a:r>
          </a:p>
          <a:p>
            <a:pPr algn="ctr"/>
            <a:r>
              <a:rPr kumimoji="1" lang="ja-JP" altLang="en-US" sz="1100" u="sng" dirty="0">
                <a:solidFill>
                  <a:srgbClr val="7FC8F8"/>
                </a:solidFill>
                <a:latin typeface="Meiryo" panose="020B0604030504040204" pitchFamily="50" charset="-128"/>
                <a:hlinkClick r:id="rId11"/>
              </a:rPr>
              <a:t>NG4 レイヴンギア(Hook Point)チュートリアル</a:t>
            </a:r>
          </a:p>
        </p:txBody>
      </p:sp>
    </p:spTree>
    <p:extLst>
      <p:ext uri="{BB962C8B-B14F-4D97-AF65-F5344CB8AC3E}">
        <p14:creationId xmlns:p14="http://schemas.microsoft.com/office/powerpoint/2010/main" val="4073604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434</Words>
  <Application>Microsoft Office PowerPoint</Application>
  <PresentationFormat>ワイド画面</PresentationFormat>
  <Paragraphs>80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HGP創英ﾌﾟﾚｾﾞﾝｽEB</vt:lpstr>
      <vt:lpstr>Meiryo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平尾　泰稀</dc:creator>
  <cp:lastModifiedBy>平尾　泰稀</cp:lastModifiedBy>
  <cp:revision>6</cp:revision>
  <dcterms:created xsi:type="dcterms:W3CDTF">2026-09-16T00:54:46Z</dcterms:created>
  <dcterms:modified xsi:type="dcterms:W3CDTF">2026-09-16T09:27:52Z</dcterms:modified>
</cp:coreProperties>
</file>